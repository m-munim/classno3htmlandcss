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86" r:id="rId4"/>
    <p:sldId id="287" r:id="rId5"/>
    <p:sldId id="307" r:id="rId6"/>
    <p:sldId id="288" r:id="rId7"/>
    <p:sldId id="289" r:id="rId8"/>
    <p:sldId id="290" r:id="rId9"/>
    <p:sldId id="293" r:id="rId10"/>
    <p:sldId id="294" r:id="rId11"/>
    <p:sldId id="295" r:id="rId12"/>
    <p:sldId id="299" r:id="rId13"/>
    <p:sldId id="284" r:id="rId14"/>
    <p:sldId id="285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34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595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711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005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458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333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5115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539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9070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1424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e1e349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e1e349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7988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94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342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DC651B-E3B4-450E-95BA-434893BCF64B}"/>
              </a:ext>
            </a:extLst>
          </p:cNvPr>
          <p:cNvSpPr/>
          <p:nvPr/>
        </p:nvSpPr>
        <p:spPr>
          <a:xfrm>
            <a:off x="535781" y="646004"/>
            <a:ext cx="7322344" cy="3701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Bootstrap?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 is a powerful frontend framework initially developed by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Twitter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simplify and speed up responsive web development. </a:t>
            </a:r>
          </a:p>
          <a:p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Predefined CSS classes for layout, typography, buttons, and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responsive 12-column grid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Reusable JavaScript components like modals, carousels, and tooltips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integration with HTML and minimal custom CSS</a:t>
            </a:r>
          </a:p>
          <a:p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Bootstrap?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Saves time writing custom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consistency across browsers and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Mobile-first by default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50BA5D-3342-4DB6-B2FB-5207D6BE3D64}"/>
              </a:ext>
            </a:extLst>
          </p:cNvPr>
          <p:cNvSpPr/>
          <p:nvPr/>
        </p:nvSpPr>
        <p:spPr>
          <a:xfrm>
            <a:off x="471487" y="651659"/>
            <a:ext cx="7458075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Use Bootstrap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CDN (Fastest Way)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installation required—simply copy-paste these links in your HTML &lt;head&gt; and before the &lt;/body&gt; tag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46723-8E8F-497A-A197-48228EE3EDC9}"/>
              </a:ext>
            </a:extLst>
          </p:cNvPr>
          <p:cNvSpPr/>
          <p:nvPr/>
        </p:nvSpPr>
        <p:spPr>
          <a:xfrm>
            <a:off x="171449" y="1922441"/>
            <a:ext cx="8829676" cy="11849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86661-36F2-43AF-AE3E-F6E946E8107C}"/>
              </a:ext>
            </a:extLst>
          </p:cNvPr>
          <p:cNvSpPr/>
          <p:nvPr/>
        </p:nvSpPr>
        <p:spPr>
          <a:xfrm>
            <a:off x="171449" y="1977211"/>
            <a:ext cx="935117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&lt;!-- CSS --&gt;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&lt;link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="https://cdn.jsdelivr.net/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/bootstrap@5.3.0/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/bootstrap.min.css"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="stylesheet"&gt;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&lt;!-- JS Bundle --&gt;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="https://cdn.jsdelivr.net/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/bootstrap@5.3.0/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/bootstrap.bundle.min.js"&gt;&lt;/script&gt;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90291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239E99-3DA5-4C80-A277-DA97C0ED9B0B}"/>
              </a:ext>
            </a:extLst>
          </p:cNvPr>
          <p:cNvSpPr/>
          <p:nvPr/>
        </p:nvSpPr>
        <p:spPr>
          <a:xfrm>
            <a:off x="457199" y="593527"/>
            <a:ext cx="8308181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 System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12-column grid system allows for building responsive layouts using rows and columns. It uses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under the hood.</a:t>
            </a:r>
          </a:p>
          <a:p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Concepts: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.container: fixed-width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.container-fluid: full-width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.row: wrapper for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.col: equal column width (auto)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.col-md-6: 6/12 columns for medium screens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Tip:</a:t>
            </a:r>
          </a:p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col-xl-3 col-lg-5 col-md-5 col-sm-7 col-12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05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DC4076-619A-4215-91BF-1DCD54B0A3F7}"/>
              </a:ext>
            </a:extLst>
          </p:cNvPr>
          <p:cNvSpPr/>
          <p:nvPr/>
        </p:nvSpPr>
        <p:spPr>
          <a:xfrm>
            <a:off x="750094" y="603499"/>
            <a:ext cx="7400925" cy="1768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231AB-BCCE-493C-86B0-6AF89A85AABE}"/>
              </a:ext>
            </a:extLst>
          </p:cNvPr>
          <p:cNvSpPr/>
          <p:nvPr/>
        </p:nvSpPr>
        <p:spPr>
          <a:xfrm>
            <a:off x="750094" y="617786"/>
            <a:ext cx="6743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 class="container"&gt;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&lt;div class="row"&gt;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&lt;div class="col-md-6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-primary text-white"&gt;Left Column&lt;/div&gt;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&lt;div class="col-md-6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-success text-white"&gt;Right Column&lt;/div&gt;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&lt;/div&gt;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&lt;/div&gt;</a:t>
            </a:r>
          </a:p>
        </p:txBody>
      </p:sp>
      <p:pic>
        <p:nvPicPr>
          <p:cNvPr id="1030" name="Picture 6" descr="Flexbox eplilectic Grid Bootstrap">
            <a:extLst>
              <a:ext uri="{FF2B5EF4-FFF2-40B4-BE49-F238E27FC236}">
                <a16:creationId xmlns:a16="http://schemas.microsoft.com/office/drawing/2014/main" id="{6829CCA8-99DC-4C94-B683-ADA55407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44" y="2489806"/>
            <a:ext cx="7750562" cy="214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07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60288A-57B1-427E-8CD8-0D60CFF8D3F1}"/>
              </a:ext>
            </a:extLst>
          </p:cNvPr>
          <p:cNvSpPr/>
          <p:nvPr/>
        </p:nvSpPr>
        <p:spPr>
          <a:xfrm>
            <a:off x="521494" y="593527"/>
            <a:ext cx="668655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Typography Utilities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Bootstrap offers responsive and accessible typography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Headings (h1 to h6)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.display-1 to .display-6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.lead for larger paragraph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.text-* for alignment and color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CDAF5F-35D3-4E47-B52C-AB2EFFCD22AC}"/>
              </a:ext>
            </a:extLst>
          </p:cNvPr>
          <p:cNvSpPr/>
          <p:nvPr/>
        </p:nvSpPr>
        <p:spPr>
          <a:xfrm>
            <a:off x="721518" y="2301688"/>
            <a:ext cx="5757862" cy="1048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91783-1378-4062-837E-AB4A91B975F4}"/>
              </a:ext>
            </a:extLst>
          </p:cNvPr>
          <p:cNvSpPr/>
          <p:nvPr/>
        </p:nvSpPr>
        <p:spPr>
          <a:xfrm>
            <a:off x="771524" y="2366160"/>
            <a:ext cx="5757863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 class="display-1"&gt;Welcome&lt;/h1&gt;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 class="lead"&gt;This is a lead paragraph.&lt;/p&gt;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 class="text-end text-muted"&gt;Right aligned and muted&lt;/p&gt;</a:t>
            </a:r>
          </a:p>
        </p:txBody>
      </p:sp>
    </p:spTree>
    <p:extLst>
      <p:ext uri="{BB962C8B-B14F-4D97-AF65-F5344CB8AC3E}">
        <p14:creationId xmlns:p14="http://schemas.microsoft.com/office/powerpoint/2010/main" val="266698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5E368-AA85-4677-A2A2-49D3CA8ECE18}"/>
              </a:ext>
            </a:extLst>
          </p:cNvPr>
          <p:cNvSpPr/>
          <p:nvPr/>
        </p:nvSpPr>
        <p:spPr>
          <a:xfrm>
            <a:off x="442911" y="593527"/>
            <a:ext cx="736520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&amp; Background Utilities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Customize text and background quickly using utility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text-primary, text-danger,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-light,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-success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 uses a consistent color palette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97DDE5-5F82-4C61-81D3-967E65C60595}"/>
              </a:ext>
            </a:extLst>
          </p:cNvPr>
          <p:cNvSpPr/>
          <p:nvPr/>
        </p:nvSpPr>
        <p:spPr>
          <a:xfrm>
            <a:off x="626395" y="1792755"/>
            <a:ext cx="6065043" cy="857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8E2767-539A-4793-8BA8-3B1BECDC9BDC}"/>
              </a:ext>
            </a:extLst>
          </p:cNvPr>
          <p:cNvSpPr/>
          <p:nvPr/>
        </p:nvSpPr>
        <p:spPr>
          <a:xfrm>
            <a:off x="626395" y="1886189"/>
            <a:ext cx="570785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 class=“	"&gt;This is an error message&lt;/p&gt;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 class="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-warning text-dark p-3"&gt;Warning Section&lt;/div&gt;</a:t>
            </a:r>
          </a:p>
        </p:txBody>
      </p:sp>
    </p:spTree>
    <p:extLst>
      <p:ext uri="{BB962C8B-B14F-4D97-AF65-F5344CB8AC3E}">
        <p14:creationId xmlns:p14="http://schemas.microsoft.com/office/powerpoint/2010/main" val="324613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11F66-CB29-4063-9E17-7C531EF8FA08}"/>
              </a:ext>
            </a:extLst>
          </p:cNvPr>
          <p:cNvSpPr/>
          <p:nvPr/>
        </p:nvSpPr>
        <p:spPr>
          <a:xfrm>
            <a:off x="457200" y="593527"/>
            <a:ext cx="8234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Buttons &amp;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Buttons are customizable with classes like .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-success, .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-outline-danger,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 are used for feedback messages.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F70C40-A9CD-4344-AEC3-D3618538E7D6}"/>
              </a:ext>
            </a:extLst>
          </p:cNvPr>
          <p:cNvSpPr/>
          <p:nvPr/>
        </p:nvSpPr>
        <p:spPr>
          <a:xfrm>
            <a:off x="585788" y="1504845"/>
            <a:ext cx="6093618" cy="508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173DAB-3526-4630-A1B9-ED939BF42214}"/>
              </a:ext>
            </a:extLst>
          </p:cNvPr>
          <p:cNvSpPr/>
          <p:nvPr/>
        </p:nvSpPr>
        <p:spPr>
          <a:xfrm>
            <a:off x="585788" y="1591509"/>
            <a:ext cx="4488729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 class="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-primary"&gt;Save&lt;/button&gt;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69293-92D5-4D55-815E-48E3716A0D2F}"/>
              </a:ext>
            </a:extLst>
          </p:cNvPr>
          <p:cNvSpPr/>
          <p:nvPr/>
        </p:nvSpPr>
        <p:spPr>
          <a:xfrm>
            <a:off x="585788" y="2571750"/>
            <a:ext cx="6093618" cy="1278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94F667-51FC-4D9E-B773-09751741EE4B}"/>
              </a:ext>
            </a:extLst>
          </p:cNvPr>
          <p:cNvSpPr/>
          <p:nvPr/>
        </p:nvSpPr>
        <p:spPr>
          <a:xfrm>
            <a:off x="457200" y="2131040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D32E81-C32D-4FF2-951A-D50F970CFCED}"/>
              </a:ext>
            </a:extLst>
          </p:cNvPr>
          <p:cNvSpPr/>
          <p:nvPr/>
        </p:nvSpPr>
        <p:spPr>
          <a:xfrm>
            <a:off x="585788" y="2648948"/>
            <a:ext cx="618648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 class="alert alert-warning alert-dismissible fade show"&gt;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Please check your input!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&lt;button class="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-close" data-bs-dismiss="alert"&gt;&lt;/button&gt;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1590991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598694" y="131862"/>
            <a:ext cx="1346766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3CC96A-0976-4F71-8204-F036BFCB8924}"/>
              </a:ext>
            </a:extLst>
          </p:cNvPr>
          <p:cNvSpPr/>
          <p:nvPr/>
        </p:nvSpPr>
        <p:spPr>
          <a:xfrm>
            <a:off x="535781" y="593527"/>
            <a:ext cx="657225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Forms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Bootstrap form are styled out of the box and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Inputs,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textareas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checkboxes, radios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classes (is-valid, is-invalid)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 and input grouping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2B2B62-5403-4ACF-A079-96A6C7A475A6}"/>
              </a:ext>
            </a:extLst>
          </p:cNvPr>
          <p:cNvSpPr/>
          <p:nvPr/>
        </p:nvSpPr>
        <p:spPr>
          <a:xfrm>
            <a:off x="721518" y="2040078"/>
            <a:ext cx="6779978" cy="1694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CC40CB-3F3A-4B13-990F-769A09A0AC70}"/>
              </a:ext>
            </a:extLst>
          </p:cNvPr>
          <p:cNvSpPr/>
          <p:nvPr/>
        </p:nvSpPr>
        <p:spPr>
          <a:xfrm>
            <a:off x="857250" y="2072134"/>
            <a:ext cx="567213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&lt;form&gt;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&lt;div class="mb-3"&gt;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&lt;label&gt;Email address&lt;/label&gt;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&lt;input type="email" class="form-control" required&gt;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&lt;/div&gt;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34568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12982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DA9D0-A60C-4305-B76C-539186B58FD6}"/>
              </a:ext>
            </a:extLst>
          </p:cNvPr>
          <p:cNvSpPr/>
          <p:nvPr/>
        </p:nvSpPr>
        <p:spPr>
          <a:xfrm>
            <a:off x="514350" y="593527"/>
            <a:ext cx="79795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Cards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Cards are flexible containers for content—can include images, text, links, and footers. Combine with grid for layouts.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24DC00-6E3B-49C9-A337-3C6411274924}"/>
              </a:ext>
            </a:extLst>
          </p:cNvPr>
          <p:cNvSpPr/>
          <p:nvPr/>
        </p:nvSpPr>
        <p:spPr>
          <a:xfrm>
            <a:off x="650082" y="1516857"/>
            <a:ext cx="5479256" cy="2440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5378E-2A34-4EAC-B55E-9F18E9451C9D}"/>
              </a:ext>
            </a:extLst>
          </p:cNvPr>
          <p:cNvSpPr/>
          <p:nvPr/>
        </p:nvSpPr>
        <p:spPr>
          <a:xfrm>
            <a:off x="650082" y="1606095"/>
            <a:ext cx="559355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 class="card" style="width: 18rem;"&gt;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="img.jpg" class="card-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-top"&gt;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&lt;div class="card-body"&gt;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&lt;h5 class="card-title"&gt;Project&lt;/h5&gt;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&lt;p class="card-text"&gt;Short description.&lt;/p&gt;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&lt;a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="#" class="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-primary"&gt;View&lt;/a&gt;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&lt;/div&gt;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300235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0855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أَسْتَغْفِرُ ٱللَّٰهَ</a:t>
            </a:r>
            <a:endParaRPr lang="en-US" sz="17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CEBE6-DEB8-4CCC-BC7F-83CCD25EECCC}"/>
              </a:ext>
            </a:extLst>
          </p:cNvPr>
          <p:cNvSpPr/>
          <p:nvPr/>
        </p:nvSpPr>
        <p:spPr>
          <a:xfrm>
            <a:off x="485774" y="593527"/>
            <a:ext cx="78295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Navbar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responsive navigation bar that collapses into a hamburger menu on mobile screens. You can add branding and links.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59F6F-5D57-468F-8D60-DF1F36282BE2}"/>
              </a:ext>
            </a:extLst>
          </p:cNvPr>
          <p:cNvSpPr/>
          <p:nvPr/>
        </p:nvSpPr>
        <p:spPr>
          <a:xfrm>
            <a:off x="485774" y="1691878"/>
            <a:ext cx="76295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Carousel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slideshow component for images and content with navigation controls and indicators.</a:t>
            </a:r>
          </a:p>
        </p:txBody>
      </p:sp>
    </p:spTree>
    <p:extLst>
      <p:ext uri="{BB962C8B-B14F-4D97-AF65-F5344CB8AC3E}">
        <p14:creationId xmlns:p14="http://schemas.microsoft.com/office/powerpoint/2010/main" val="1999306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10355-D04D-440D-9255-4337DA6A806F}"/>
              </a:ext>
            </a:extLst>
          </p:cNvPr>
          <p:cNvSpPr/>
          <p:nvPr/>
        </p:nvSpPr>
        <p:spPr>
          <a:xfrm>
            <a:off x="7605838" y="131862"/>
            <a:ext cx="1234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sz="24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أَسْتَغْفِرُ ٱللَّٰهَ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CC58E-CC61-4CA5-B375-E3DEF9A9A796}"/>
              </a:ext>
            </a:extLst>
          </p:cNvPr>
          <p:cNvSpPr/>
          <p:nvPr/>
        </p:nvSpPr>
        <p:spPr>
          <a:xfrm>
            <a:off x="450056" y="596592"/>
            <a:ext cx="4572000" cy="41088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</a:t>
            </a:r>
          </a:p>
          <a:p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Traversy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Media: Bootstrap 5 Crash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freeCodeCamp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Bootstrap Full Course</a:t>
            </a:r>
          </a:p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 Froggy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 Garden</a:t>
            </a:r>
          </a:p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 Blog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Smashing Magazine on Bootstrap</a:t>
            </a:r>
          </a:p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 Official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Bootsnipp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Codeply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86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046F0-B37D-447A-965E-4EB3368889A6}"/>
              </a:ext>
            </a:extLst>
          </p:cNvPr>
          <p:cNvSpPr/>
          <p:nvPr/>
        </p:nvSpPr>
        <p:spPr>
          <a:xfrm>
            <a:off x="407096" y="731757"/>
            <a:ext cx="17011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50BD60-088E-45F4-9E84-A5D87DC7E7CE}"/>
              </a:ext>
            </a:extLst>
          </p:cNvPr>
          <p:cNvSpPr/>
          <p:nvPr/>
        </p:nvSpPr>
        <p:spPr>
          <a:xfrm>
            <a:off x="485676" y="1065595"/>
            <a:ext cx="48864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Evidence: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screenshots or record a short video for each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your evidence clearly shows the completed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F3B4A-4629-4C18-ADAA-B2F699C82F52}"/>
              </a:ext>
            </a:extLst>
          </p:cNvPr>
          <p:cNvSpPr/>
          <p:nvPr/>
        </p:nvSpPr>
        <p:spPr>
          <a:xfrm>
            <a:off x="400749" y="1857418"/>
            <a:ext cx="597941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each task as a separate folder or file in your GitHub repository.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8E690E-992D-4F7C-8396-B8B2EF2C760A}"/>
              </a:ext>
            </a:extLst>
          </p:cNvPr>
          <p:cNvSpPr/>
          <p:nvPr/>
        </p:nvSpPr>
        <p:spPr>
          <a:xfrm>
            <a:off x="400749" y="2571750"/>
            <a:ext cx="714305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short post summarizing what you learned and how you completed the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your key takeaways.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Mention the following account in your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Muhammad Munim</a:t>
            </a:r>
          </a:p>
        </p:txBody>
      </p:sp>
    </p:spTree>
    <p:extLst>
      <p:ext uri="{BB962C8B-B14F-4D97-AF65-F5344CB8AC3E}">
        <p14:creationId xmlns:p14="http://schemas.microsoft.com/office/powerpoint/2010/main" val="341320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835</Words>
  <Application>Microsoft Office PowerPoint</Application>
  <PresentationFormat>On-screen Show (16:9)</PresentationFormat>
  <Paragraphs>125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81</cp:revision>
  <dcterms:modified xsi:type="dcterms:W3CDTF">2026-01-19T16:12:18Z</dcterms:modified>
</cp:coreProperties>
</file>