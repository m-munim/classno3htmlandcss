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7"/>
  </p:notesMasterIdLst>
  <p:sldIdLst>
    <p:sldId id="256" r:id="rId2"/>
    <p:sldId id="282" r:id="rId3"/>
    <p:sldId id="283" r:id="rId4"/>
    <p:sldId id="284" r:id="rId5"/>
    <p:sldId id="321" r:id="rId6"/>
    <p:sldId id="285" r:id="rId7"/>
    <p:sldId id="286" r:id="rId8"/>
    <p:sldId id="287" r:id="rId9"/>
    <p:sldId id="288" r:id="rId10"/>
    <p:sldId id="290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301" r:id="rId19"/>
    <p:sldId id="302" r:id="rId20"/>
    <p:sldId id="303" r:id="rId21"/>
    <p:sldId id="304" r:id="rId22"/>
    <p:sldId id="306" r:id="rId23"/>
    <p:sldId id="307" r:id="rId24"/>
    <p:sldId id="308" r:id="rId25"/>
    <p:sldId id="309" r:id="rId26"/>
    <p:sldId id="310" r:id="rId27"/>
    <p:sldId id="311" r:id="rId28"/>
    <p:sldId id="312" r:id="rId29"/>
    <p:sldId id="322" r:id="rId30"/>
    <p:sldId id="313" r:id="rId31"/>
    <p:sldId id="314" r:id="rId32"/>
    <p:sldId id="315" r:id="rId33"/>
    <p:sldId id="316" r:id="rId34"/>
    <p:sldId id="320" r:id="rId35"/>
    <p:sldId id="279" r:id="rId3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91" autoAdjust="0"/>
    <p:restoredTop sz="95208" autoAdjust="0"/>
  </p:normalViewPr>
  <p:slideViewPr>
    <p:cSldViewPr snapToGrid="0">
      <p:cViewPr varScale="1">
        <p:scale>
          <a:sx n="129" d="100"/>
          <a:sy n="129" d="100"/>
        </p:scale>
        <p:origin x="269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b83084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b83084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45048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b83084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b83084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715833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b83084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b83084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300624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b83084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b83084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140471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b83084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b83084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520660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b83084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b83084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597313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b83084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b83084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313062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b83084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b83084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502198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b83084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b83084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545427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b83084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b83084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182199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b83084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b83084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040206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b83084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b83084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699776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b83084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b83084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840791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b83084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b83084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452875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b83084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b83084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755029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b83084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b83084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312561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b83084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b83084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005025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b83084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b83084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018986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b83084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b83084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873348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b83084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b83084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550508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b83084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b83084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244671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b83084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b83084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626893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b83084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b83084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0669943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b83084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b83084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0087689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b83084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b83084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4032149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b83084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b83084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5589665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b83084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b83084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6834609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b83084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b83084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536841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b83084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b83084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5427496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b83084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b83084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4440174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b83084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b83084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9217397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b83084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b83084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4317532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b83084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b83084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440183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a9b3621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a9b3621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533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8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0" y="0"/>
            <a:ext cx="9144000" cy="514351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moji.org/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EBBEB26-903E-4684-A2EE-0E77C12EE9CE}"/>
              </a:ext>
            </a:extLst>
          </p:cNvPr>
          <p:cNvSpPr/>
          <p:nvPr/>
        </p:nvSpPr>
        <p:spPr>
          <a:xfrm>
            <a:off x="443652" y="711376"/>
            <a:ext cx="7907868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HTML?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HTML (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HyperText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Markup Language) is the standard markup language for creating web pages.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Purpose: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Structures content (headings, paragraphs, images, links)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by all browsers to interpret and render websites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HyperText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Text with links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Markup = Tags that describe structure and presentation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HTML is not a programming language – it does not have logic or control flow.</a:t>
            </a:r>
          </a:p>
        </p:txBody>
      </p:sp>
    </p:spTree>
    <p:extLst>
      <p:ext uri="{BB962C8B-B14F-4D97-AF65-F5344CB8AC3E}">
        <p14:creationId xmlns:p14="http://schemas.microsoft.com/office/powerpoint/2010/main" val="4152241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04DC3F-14CD-4849-9F22-7793BCFFC407}"/>
              </a:ext>
            </a:extLst>
          </p:cNvPr>
          <p:cNvSpPr/>
          <p:nvPr/>
        </p:nvSpPr>
        <p:spPr>
          <a:xfrm>
            <a:off x="483234" y="722894"/>
            <a:ext cx="40174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Anatomy of an HTML Element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2C0373-8380-4176-89DB-D702C10EBFED}"/>
              </a:ext>
            </a:extLst>
          </p:cNvPr>
          <p:cNvSpPr/>
          <p:nvPr/>
        </p:nvSpPr>
        <p:spPr>
          <a:xfrm>
            <a:off x="852998" y="1151590"/>
            <a:ext cx="4944533" cy="406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&lt;p class="intro"&gt;Hello, world! &lt;/p&gt;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157B43-408A-4C52-BD39-5CD036EAF749}"/>
              </a:ext>
            </a:extLst>
          </p:cNvPr>
          <p:cNvSpPr/>
          <p:nvPr/>
        </p:nvSpPr>
        <p:spPr>
          <a:xfrm>
            <a:off x="633306" y="1584669"/>
            <a:ext cx="314727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&lt;p&gt; – Opening tag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class="intro" – Attribute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Hello, world! – Content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&lt;/p&gt; – Closing tag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D12C89-35C6-4E5A-B93E-2D16AE937C78}"/>
              </a:ext>
            </a:extLst>
          </p:cNvPr>
          <p:cNvSpPr/>
          <p:nvPr/>
        </p:nvSpPr>
        <p:spPr>
          <a:xfrm>
            <a:off x="483234" y="2784998"/>
            <a:ext cx="20521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Nested Elements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7CFBA8-004F-4BDB-8985-D4AD19A90F5B}"/>
              </a:ext>
            </a:extLst>
          </p:cNvPr>
          <p:cNvSpPr/>
          <p:nvPr/>
        </p:nvSpPr>
        <p:spPr>
          <a:xfrm>
            <a:off x="5727909" y="3585510"/>
            <a:ext cx="320146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 Always close tags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❌ Do not overlap opening and closing tags incorrectly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1C7CFB-C14D-46A4-98FB-16C71C616955}"/>
              </a:ext>
            </a:extLst>
          </p:cNvPr>
          <p:cNvSpPr/>
          <p:nvPr/>
        </p:nvSpPr>
        <p:spPr>
          <a:xfrm>
            <a:off x="633305" y="3179110"/>
            <a:ext cx="4944533" cy="406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&lt;p&gt;This is &lt;strong&gt;important&lt;/strong&gt; text.&lt;/p&gt;</a:t>
            </a:r>
          </a:p>
        </p:txBody>
      </p:sp>
    </p:spTree>
    <p:extLst>
      <p:ext uri="{BB962C8B-B14F-4D97-AF65-F5344CB8AC3E}">
        <p14:creationId xmlns:p14="http://schemas.microsoft.com/office/powerpoint/2010/main" val="4053929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49D4756-3851-4F10-A84D-8285B991E2CF}"/>
              </a:ext>
            </a:extLst>
          </p:cNvPr>
          <p:cNvSpPr/>
          <p:nvPr/>
        </p:nvSpPr>
        <p:spPr>
          <a:xfrm>
            <a:off x="447935" y="632494"/>
            <a:ext cx="43123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Basic HTML Document Structure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96DBD6-B9D6-4FBC-91C7-EE9C1B6A5686}"/>
              </a:ext>
            </a:extLst>
          </p:cNvPr>
          <p:cNvSpPr/>
          <p:nvPr/>
        </p:nvSpPr>
        <p:spPr>
          <a:xfrm>
            <a:off x="710540" y="1094158"/>
            <a:ext cx="4395849" cy="32411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FCBCC0-D8AE-4686-B79E-C26C780FD79F}"/>
              </a:ext>
            </a:extLst>
          </p:cNvPr>
          <p:cNvSpPr/>
          <p:nvPr/>
        </p:nvSpPr>
        <p:spPr>
          <a:xfrm>
            <a:off x="765387" y="1187019"/>
            <a:ext cx="3556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&lt;!DOCTYPE html&gt;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&lt;html&gt;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&lt;head&gt;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&lt;title&gt;My First Page&lt;/title&gt;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&lt;/head&gt;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&lt;body&gt;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&lt;h1&gt;Hello World&lt;/h1&gt;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&lt;p&gt;Welcome to HTML&lt;/p&gt;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&lt;/body&gt;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&lt;/html&gt;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577B0F-B625-4F75-8459-FF4A0FF9E5E4}"/>
              </a:ext>
            </a:extLst>
          </p:cNvPr>
          <p:cNvSpPr/>
          <p:nvPr/>
        </p:nvSpPr>
        <p:spPr>
          <a:xfrm>
            <a:off x="5344159" y="3011862"/>
            <a:ext cx="379984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&lt;!DOCTYPE html&gt;: Declares HTML5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&lt;html&gt;: Root of document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&lt;head&gt;: Meta info (not visible on page)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&lt;title&gt;: Shown on browser tab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&lt;body&gt;: Visible page content</a:t>
            </a:r>
          </a:p>
        </p:txBody>
      </p:sp>
    </p:spTree>
    <p:extLst>
      <p:ext uri="{BB962C8B-B14F-4D97-AF65-F5344CB8AC3E}">
        <p14:creationId xmlns:p14="http://schemas.microsoft.com/office/powerpoint/2010/main" val="1530832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HTML DOM">
            <a:extLst>
              <a:ext uri="{FF2B5EF4-FFF2-40B4-BE49-F238E27FC236}">
                <a16:creationId xmlns:a16="http://schemas.microsoft.com/office/drawing/2014/main" id="{CE339966-FF02-4594-9008-63C1E95B7B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1937" y="643289"/>
            <a:ext cx="6080125" cy="3856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4496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CF6D43-2D94-4B7D-934A-DF9278332B6F}"/>
              </a:ext>
            </a:extLst>
          </p:cNvPr>
          <p:cNvSpPr/>
          <p:nvPr/>
        </p:nvSpPr>
        <p:spPr>
          <a:xfrm>
            <a:off x="486946" y="561968"/>
            <a:ext cx="34195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Headings and Paragraphs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89A3BA-F259-4A10-91C2-363EE70CB761}"/>
              </a:ext>
            </a:extLst>
          </p:cNvPr>
          <p:cNvSpPr/>
          <p:nvPr/>
        </p:nvSpPr>
        <p:spPr>
          <a:xfrm>
            <a:off x="751840" y="1009227"/>
            <a:ext cx="4189308" cy="1562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743B0F-EDB2-4A5A-96D4-CDF181022E6A}"/>
              </a:ext>
            </a:extLst>
          </p:cNvPr>
          <p:cNvSpPr/>
          <p:nvPr/>
        </p:nvSpPr>
        <p:spPr>
          <a:xfrm>
            <a:off x="751840" y="1023633"/>
            <a:ext cx="374904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&lt;h1&gt;This is H1&lt;/h1&gt;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&lt;h2&gt;This is H2&lt;/h2&gt;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...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&lt;h6&gt;This is H6&lt;/h6&gt;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&lt;p&gt;This is a paragraph of text.&lt;/p&gt;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469490-ACB2-42C1-B71E-0E6570A85C16}"/>
              </a:ext>
            </a:extLst>
          </p:cNvPr>
          <p:cNvSpPr/>
          <p:nvPr/>
        </p:nvSpPr>
        <p:spPr>
          <a:xfrm>
            <a:off x="486946" y="2642540"/>
            <a:ext cx="4572000" cy="123110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&lt;h1&gt; for the main title (only one per page)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&lt;h2&gt;–&lt;h6&gt; for subtitles/subsections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&lt;p&gt; for blocks of text</a:t>
            </a:r>
          </a:p>
        </p:txBody>
      </p:sp>
    </p:spTree>
    <p:extLst>
      <p:ext uri="{BB962C8B-B14F-4D97-AF65-F5344CB8AC3E}">
        <p14:creationId xmlns:p14="http://schemas.microsoft.com/office/powerpoint/2010/main" val="4049201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2E10CE-3FB0-4E7F-8707-3890924A55C3}"/>
              </a:ext>
            </a:extLst>
          </p:cNvPr>
          <p:cNvSpPr/>
          <p:nvPr/>
        </p:nvSpPr>
        <p:spPr>
          <a:xfrm>
            <a:off x="423334" y="547513"/>
            <a:ext cx="4572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 Formatting Tags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&lt;strong&gt;: bold (semantic emphasis)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&gt;: italic (semantic emphasis)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&lt;b&gt;, &lt;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&gt;: visual only (non-semantic)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&lt;mark&gt;: highlighted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&lt;u&gt;: underline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&lt;small&gt;: smaller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&lt;del&gt;: deleted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&lt;ins&gt;: inserted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&lt;sup&gt;, &lt;sub&gt;: superscript &amp; subscript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28F65C-A61F-46D4-AE2A-4CB4D86B9A1A}"/>
              </a:ext>
            </a:extLst>
          </p:cNvPr>
          <p:cNvSpPr/>
          <p:nvPr/>
        </p:nvSpPr>
        <p:spPr>
          <a:xfrm>
            <a:off x="407312" y="3225169"/>
            <a:ext cx="11641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23CBD3-7157-42A1-B0EB-DC2AFEE99390}"/>
              </a:ext>
            </a:extLst>
          </p:cNvPr>
          <p:cNvSpPr/>
          <p:nvPr/>
        </p:nvSpPr>
        <p:spPr>
          <a:xfrm>
            <a:off x="538482" y="3625279"/>
            <a:ext cx="3478105" cy="829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E24682-CF0D-4F52-88F9-964E65CE417E}"/>
              </a:ext>
            </a:extLst>
          </p:cNvPr>
          <p:cNvSpPr/>
          <p:nvPr/>
        </p:nvSpPr>
        <p:spPr>
          <a:xfrm>
            <a:off x="657014" y="3733001"/>
            <a:ext cx="325119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&lt;p&gt;Water is H&lt;sub&gt;2&lt;/sub&gt;O&lt;/p&gt;</a:t>
            </a:r>
          </a:p>
          <a:p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&lt;p&gt;E = mc&lt;sup&gt;2&lt;/sup&gt;&lt;/p&gt;</a:t>
            </a:r>
          </a:p>
        </p:txBody>
      </p:sp>
    </p:spTree>
    <p:extLst>
      <p:ext uri="{BB962C8B-B14F-4D97-AF65-F5344CB8AC3E}">
        <p14:creationId xmlns:p14="http://schemas.microsoft.com/office/powerpoint/2010/main" val="3683128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31B673-8C0F-4B59-B12F-23190D2F5F14}"/>
              </a:ext>
            </a:extLst>
          </p:cNvPr>
          <p:cNvSpPr/>
          <p:nvPr/>
        </p:nvSpPr>
        <p:spPr>
          <a:xfrm>
            <a:off x="457200" y="563271"/>
            <a:ext cx="615141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Line Breaks &amp; Horizontal Rules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/&gt; – Line break (no closing tag(self closing))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hr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/&gt; – Thematic break (horizontal line)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016293-B944-4857-B2F5-1412FAEFE1B6}"/>
              </a:ext>
            </a:extLst>
          </p:cNvPr>
          <p:cNvSpPr/>
          <p:nvPr/>
        </p:nvSpPr>
        <p:spPr>
          <a:xfrm>
            <a:off x="755227" y="1576066"/>
            <a:ext cx="4572001" cy="646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655CF1-898F-40EC-AAC8-61A56649901E}"/>
              </a:ext>
            </a:extLst>
          </p:cNvPr>
          <p:cNvSpPr/>
          <p:nvPr/>
        </p:nvSpPr>
        <p:spPr>
          <a:xfrm>
            <a:off x="755227" y="1576942"/>
            <a:ext cx="284141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&lt;p&gt;Line 1&lt;</a:t>
            </a:r>
            <a:r>
              <a:rPr lang="en-US" sz="1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</a:t>
            </a:r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&gt;Line 2&lt;/p&gt;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sz="1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hr</a:t>
            </a:r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/&gt;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48A3BE-892B-43FC-803F-A568D9EEB92E}"/>
              </a:ext>
            </a:extLst>
          </p:cNvPr>
          <p:cNvSpPr/>
          <p:nvPr/>
        </p:nvSpPr>
        <p:spPr>
          <a:xfrm>
            <a:off x="457199" y="2272889"/>
            <a:ext cx="227177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Comments in HTML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514C90-88DD-44D3-B688-21F6AF962365}"/>
              </a:ext>
            </a:extLst>
          </p:cNvPr>
          <p:cNvSpPr/>
          <p:nvPr/>
        </p:nvSpPr>
        <p:spPr>
          <a:xfrm>
            <a:off x="755227" y="2672993"/>
            <a:ext cx="4572000" cy="5036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4C94A1-A712-43E5-A24A-3BAFF6E404D1}"/>
              </a:ext>
            </a:extLst>
          </p:cNvPr>
          <p:cNvSpPr/>
          <p:nvPr/>
        </p:nvSpPr>
        <p:spPr>
          <a:xfrm>
            <a:off x="970335" y="2753388"/>
            <a:ext cx="25699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&lt;!-- This is a comment --&gt;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EA3667-DE39-46D0-9E6F-56521FA96987}"/>
              </a:ext>
            </a:extLst>
          </p:cNvPr>
          <p:cNvSpPr/>
          <p:nvPr/>
        </p:nvSpPr>
        <p:spPr>
          <a:xfrm>
            <a:off x="457199" y="3235192"/>
            <a:ext cx="534077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Comments are not shown on the web page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to document code or temporarily disable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Shortcut: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cntrl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/</a:t>
            </a:r>
          </a:p>
        </p:txBody>
      </p:sp>
    </p:spTree>
    <p:extLst>
      <p:ext uri="{BB962C8B-B14F-4D97-AF65-F5344CB8AC3E}">
        <p14:creationId xmlns:p14="http://schemas.microsoft.com/office/powerpoint/2010/main" val="3369190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11816E9-1899-4863-8BE4-EA0732A94B23}"/>
              </a:ext>
            </a:extLst>
          </p:cNvPr>
          <p:cNvSpPr/>
          <p:nvPr/>
        </p:nvSpPr>
        <p:spPr>
          <a:xfrm>
            <a:off x="450425" y="610685"/>
            <a:ext cx="7054427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Attributes in HTML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Attributes provide additional information about an element.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CA39B6-5D0A-45FD-809A-E6BB185F3AC1}"/>
              </a:ext>
            </a:extLst>
          </p:cNvPr>
          <p:cNvSpPr/>
          <p:nvPr/>
        </p:nvSpPr>
        <p:spPr>
          <a:xfrm>
            <a:off x="795865" y="1349349"/>
            <a:ext cx="6106162" cy="6976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CAD23D-619F-49BA-A1C3-30A26A1DBDC3}"/>
              </a:ext>
            </a:extLst>
          </p:cNvPr>
          <p:cNvSpPr/>
          <p:nvPr/>
        </p:nvSpPr>
        <p:spPr>
          <a:xfrm>
            <a:off x="1093890" y="1375606"/>
            <a:ext cx="576749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&lt;a </a:t>
            </a:r>
            <a:r>
              <a:rPr lang="en-US" sz="1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href</a:t>
            </a:r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="https://example.com" target="_blank"&gt;Visit&lt;/a&gt;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sz="1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img</a:t>
            </a:r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src</a:t>
            </a:r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="photo.jpg" alt="My photo" width="300"&gt;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D3682B-0356-402F-AAA4-5FED51C212EB}"/>
              </a:ext>
            </a:extLst>
          </p:cNvPr>
          <p:cNvSpPr/>
          <p:nvPr/>
        </p:nvSpPr>
        <p:spPr>
          <a:xfrm>
            <a:off x="450425" y="2088013"/>
            <a:ext cx="6553200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Common attributes:</a:t>
            </a:r>
          </a:p>
          <a:p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href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src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alt, title, id, class, target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Values must be in double quotes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Boolean attributes (e.g., checked, disabled) don’t need values</a:t>
            </a:r>
          </a:p>
        </p:txBody>
      </p:sp>
    </p:spTree>
    <p:extLst>
      <p:ext uri="{BB962C8B-B14F-4D97-AF65-F5344CB8AC3E}">
        <p14:creationId xmlns:p14="http://schemas.microsoft.com/office/powerpoint/2010/main" val="2436539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CD20705-4BD6-4019-B29F-0E22465D7754}"/>
              </a:ext>
            </a:extLst>
          </p:cNvPr>
          <p:cNvSpPr/>
          <p:nvPr/>
        </p:nvSpPr>
        <p:spPr>
          <a:xfrm>
            <a:off x="464056" y="555195"/>
            <a:ext cx="34451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 Example — Simple Web Page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8DDFF1-ABE8-45C3-9E17-9DF0E886F607}"/>
              </a:ext>
            </a:extLst>
          </p:cNvPr>
          <p:cNvSpPr/>
          <p:nvPr/>
        </p:nvSpPr>
        <p:spPr>
          <a:xfrm>
            <a:off x="819573" y="931299"/>
            <a:ext cx="5418667" cy="36570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891E51-D479-4831-A34D-E7294D5C7FDE}"/>
              </a:ext>
            </a:extLst>
          </p:cNvPr>
          <p:cNvSpPr/>
          <p:nvPr/>
        </p:nvSpPr>
        <p:spPr>
          <a:xfrm>
            <a:off x="904239" y="1048256"/>
            <a:ext cx="5530427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&lt;!DOCTYPE html&gt;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&lt;html&gt;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&lt;head&gt;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&lt;title&gt;My Web Page&lt;/title&gt;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&lt;/head&gt;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&lt;body&gt;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&lt;h1&gt;Welcome!&lt;/h1&gt;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&lt;p&gt;This is my first HTML page.&lt;/p&gt;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&lt;</a:t>
            </a:r>
            <a:r>
              <a:rPr lang="en-US" sz="1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hr</a:t>
            </a:r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&lt;p&gt;&lt;strong&gt;Thanks&lt;/strong&gt; for visiting.&lt;/p&gt;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&lt;/body&gt;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3968275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CED2EDA-8E45-4987-9EA6-5BA04DE77FF5}"/>
              </a:ext>
            </a:extLst>
          </p:cNvPr>
          <p:cNvSpPr/>
          <p:nvPr/>
        </p:nvSpPr>
        <p:spPr>
          <a:xfrm>
            <a:off x="438066" y="595836"/>
            <a:ext cx="723625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Layout, Lists, Links, Semantic Elements, and Media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297622-BE2C-4997-8AF2-233E94DB7BD1}"/>
              </a:ext>
            </a:extLst>
          </p:cNvPr>
          <p:cNvSpPr/>
          <p:nvPr/>
        </p:nvSpPr>
        <p:spPr>
          <a:xfrm>
            <a:off x="375920" y="1149035"/>
            <a:ext cx="671576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Learning Objectives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By the end of this class, students will: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 how to organize and group content using containers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lists (ordered and unordered)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Insert hyperlinks and navigate between pages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semantic HTML5 layout elements properly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Embed images, audio, and video into web pages</a:t>
            </a:r>
          </a:p>
        </p:txBody>
      </p:sp>
    </p:spTree>
    <p:extLst>
      <p:ext uri="{BB962C8B-B14F-4D97-AF65-F5344CB8AC3E}">
        <p14:creationId xmlns:p14="http://schemas.microsoft.com/office/powerpoint/2010/main" val="3701287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59DA7C7-BE85-4481-A1F6-D71305AF6C17}"/>
              </a:ext>
            </a:extLst>
          </p:cNvPr>
          <p:cNvSpPr/>
          <p:nvPr/>
        </p:nvSpPr>
        <p:spPr>
          <a:xfrm>
            <a:off x="492189" y="589062"/>
            <a:ext cx="45272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Grouping Elements – div and span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3AD4EA-27CB-47A3-93A8-AC07B8F72448}"/>
              </a:ext>
            </a:extLst>
          </p:cNvPr>
          <p:cNvSpPr/>
          <p:nvPr/>
        </p:nvSpPr>
        <p:spPr>
          <a:xfrm>
            <a:off x="620882" y="1068955"/>
            <a:ext cx="640983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&lt;div&gt;: Block-level container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Used to group elements for styling or layout.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C8B09A-51E2-4301-9BAD-8C022D214DA2}"/>
              </a:ext>
            </a:extLst>
          </p:cNvPr>
          <p:cNvSpPr/>
          <p:nvPr/>
        </p:nvSpPr>
        <p:spPr>
          <a:xfrm>
            <a:off x="1165013" y="1733514"/>
            <a:ext cx="3854377" cy="13212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074A2B-7B23-4A29-A4AD-B9F97B586C51}"/>
              </a:ext>
            </a:extLst>
          </p:cNvPr>
          <p:cNvSpPr/>
          <p:nvPr/>
        </p:nvSpPr>
        <p:spPr>
          <a:xfrm>
            <a:off x="1165013" y="1733514"/>
            <a:ext cx="359325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&lt;div&gt;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&lt;h2&gt;My Bio&lt;/h2&gt;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&lt;p&gt;I love coding and design.&lt;/p&gt;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&lt;/div&gt;</a:t>
            </a:r>
          </a:p>
        </p:txBody>
      </p:sp>
    </p:spTree>
    <p:extLst>
      <p:ext uri="{BB962C8B-B14F-4D97-AF65-F5344CB8AC3E}">
        <p14:creationId xmlns:p14="http://schemas.microsoft.com/office/powerpoint/2010/main" val="41625080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F2E2576-6568-4963-B51D-13D86E9C0CE5}"/>
              </a:ext>
            </a:extLst>
          </p:cNvPr>
          <p:cNvSpPr/>
          <p:nvPr/>
        </p:nvSpPr>
        <p:spPr>
          <a:xfrm>
            <a:off x="443653" y="657447"/>
            <a:ext cx="7000240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&lt;span&gt;: Inline container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Used to apply style or behavior inline within a block.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9C404E-6108-49A5-A8CF-A40E90A082E7}"/>
              </a:ext>
            </a:extLst>
          </p:cNvPr>
          <p:cNvSpPr/>
          <p:nvPr/>
        </p:nvSpPr>
        <p:spPr>
          <a:xfrm>
            <a:off x="690879" y="1417524"/>
            <a:ext cx="7748693" cy="5147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A64852-BE22-42A9-9375-E8CB823B9464}"/>
              </a:ext>
            </a:extLst>
          </p:cNvPr>
          <p:cNvSpPr/>
          <p:nvPr/>
        </p:nvSpPr>
        <p:spPr>
          <a:xfrm>
            <a:off x="908473" y="1464012"/>
            <a:ext cx="732705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&lt;p&gt;This is a &lt;span style="color: red;"&gt;red word&lt;/span&gt; in a sentence.&lt;/p&gt;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30A383-1452-4F9B-8A1D-82F12DB2A8A8}"/>
              </a:ext>
            </a:extLst>
          </p:cNvPr>
          <p:cNvSpPr/>
          <p:nvPr/>
        </p:nvSpPr>
        <p:spPr>
          <a:xfrm>
            <a:off x="443653" y="2019266"/>
            <a:ext cx="3478107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Lists in HTML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Unordered List (&lt;ul&gt;)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C42467-95F3-4549-9650-FD7AB8EB6FE8}"/>
              </a:ext>
            </a:extLst>
          </p:cNvPr>
          <p:cNvSpPr/>
          <p:nvPr/>
        </p:nvSpPr>
        <p:spPr>
          <a:xfrm>
            <a:off x="690879" y="2696374"/>
            <a:ext cx="2926081" cy="1645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ADDC35-9E71-4ACB-BD63-B08A87258F2C}"/>
              </a:ext>
            </a:extLst>
          </p:cNvPr>
          <p:cNvSpPr/>
          <p:nvPr/>
        </p:nvSpPr>
        <p:spPr>
          <a:xfrm>
            <a:off x="908473" y="2783343"/>
            <a:ext cx="247057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&lt;ul&gt;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&lt;li&gt;HTML&lt;/li&gt;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&lt;li&gt;CSS&lt;/li&gt;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&lt;li&gt;JavaScript&lt;/li&gt;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&lt;/ul&gt;</a:t>
            </a:r>
          </a:p>
        </p:txBody>
      </p:sp>
    </p:spTree>
    <p:extLst>
      <p:ext uri="{BB962C8B-B14F-4D97-AF65-F5344CB8AC3E}">
        <p14:creationId xmlns:p14="http://schemas.microsoft.com/office/powerpoint/2010/main" val="12829774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E2D19BB-E761-475F-9E38-20982D09F939}"/>
              </a:ext>
            </a:extLst>
          </p:cNvPr>
          <p:cNvSpPr/>
          <p:nvPr/>
        </p:nvSpPr>
        <p:spPr>
          <a:xfrm>
            <a:off x="451903" y="643249"/>
            <a:ext cx="21707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Ordered List (&lt;</a:t>
            </a:r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ol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C2B571-A4EA-4C4E-BC52-E799F1E9E771}"/>
              </a:ext>
            </a:extLst>
          </p:cNvPr>
          <p:cNvSpPr/>
          <p:nvPr/>
        </p:nvSpPr>
        <p:spPr>
          <a:xfrm>
            <a:off x="623146" y="1049868"/>
            <a:ext cx="3217333" cy="17018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DE0271-C70A-4D13-8DEA-357FA41C387F}"/>
              </a:ext>
            </a:extLst>
          </p:cNvPr>
          <p:cNvSpPr/>
          <p:nvPr/>
        </p:nvSpPr>
        <p:spPr>
          <a:xfrm>
            <a:off x="692792" y="1154225"/>
            <a:ext cx="297010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sz="1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ol</a:t>
            </a:r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&lt;li&gt;Open VS Code&lt;/li&gt;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&lt;li&gt;Create index.html&lt;/li&gt;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&lt;li&gt;Write HTML code&lt;/li&gt;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&lt;/</a:t>
            </a:r>
            <a:r>
              <a:rPr lang="en-US" sz="1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ol</a:t>
            </a:r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7C724E-F995-40AE-9751-8CBC8EE70905}"/>
              </a:ext>
            </a:extLst>
          </p:cNvPr>
          <p:cNvSpPr/>
          <p:nvPr/>
        </p:nvSpPr>
        <p:spPr>
          <a:xfrm>
            <a:off x="5230924" y="1034054"/>
            <a:ext cx="3461173" cy="23395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0E39A7-5C46-4173-B599-5C080591632E}"/>
              </a:ext>
            </a:extLst>
          </p:cNvPr>
          <p:cNvSpPr/>
          <p:nvPr/>
        </p:nvSpPr>
        <p:spPr>
          <a:xfrm>
            <a:off x="5120640" y="618342"/>
            <a:ext cx="158889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Nesting Lists: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90F87A-30A9-4397-94C3-CEA4DEA351E0}"/>
              </a:ext>
            </a:extLst>
          </p:cNvPr>
          <p:cNvSpPr/>
          <p:nvPr/>
        </p:nvSpPr>
        <p:spPr>
          <a:xfrm>
            <a:off x="5396871" y="1065258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&lt;ul&gt;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&lt;li&gt;Frontend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&lt;ul&gt;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&lt;li&gt;HTML&lt;/li&gt;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&lt;li&gt;CSS&lt;/li&gt;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&lt;/ul&gt;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&lt;/li&gt;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&lt;/ul&gt;</a:t>
            </a:r>
          </a:p>
        </p:txBody>
      </p:sp>
    </p:spTree>
    <p:extLst>
      <p:ext uri="{BB962C8B-B14F-4D97-AF65-F5344CB8AC3E}">
        <p14:creationId xmlns:p14="http://schemas.microsoft.com/office/powerpoint/2010/main" val="55534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F595A33-8E70-4591-A8D4-EA8F26E00DCE}"/>
              </a:ext>
            </a:extLst>
          </p:cNvPr>
          <p:cNvSpPr/>
          <p:nvPr/>
        </p:nvSpPr>
        <p:spPr>
          <a:xfrm>
            <a:off x="477519" y="596487"/>
            <a:ext cx="584877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Hyperlinks – &lt;a&gt; Tag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E8D420-8AB8-4E28-AB0A-26CE24234DA8}"/>
              </a:ext>
            </a:extLst>
          </p:cNvPr>
          <p:cNvSpPr/>
          <p:nvPr/>
        </p:nvSpPr>
        <p:spPr>
          <a:xfrm>
            <a:off x="724746" y="996597"/>
            <a:ext cx="5527041" cy="4565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F1FBAF-1BC2-4DB6-A3AE-F4737D93B5AC}"/>
              </a:ext>
            </a:extLst>
          </p:cNvPr>
          <p:cNvSpPr/>
          <p:nvPr/>
        </p:nvSpPr>
        <p:spPr>
          <a:xfrm>
            <a:off x="724746" y="1032587"/>
            <a:ext cx="50239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&lt;a </a:t>
            </a:r>
            <a:r>
              <a:rPr lang="en-US" sz="1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href</a:t>
            </a:r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="https://example.com"&gt;Visit Example&lt;/a&gt;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77E191-C2B1-4EB1-AC26-91759B7D89D6}"/>
              </a:ext>
            </a:extLst>
          </p:cNvPr>
          <p:cNvSpPr/>
          <p:nvPr/>
        </p:nvSpPr>
        <p:spPr>
          <a:xfrm>
            <a:off x="477519" y="1519238"/>
            <a:ext cx="313266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 in new tab: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C8CB78-B0E6-4F9C-9B47-D8B62922B3FF}"/>
              </a:ext>
            </a:extLst>
          </p:cNvPr>
          <p:cNvSpPr/>
          <p:nvPr/>
        </p:nvSpPr>
        <p:spPr>
          <a:xfrm>
            <a:off x="724746" y="1943049"/>
            <a:ext cx="5848773" cy="4989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F1D612-49BF-4B46-8616-CD1992AD73D3}"/>
              </a:ext>
            </a:extLst>
          </p:cNvPr>
          <p:cNvSpPr/>
          <p:nvPr/>
        </p:nvSpPr>
        <p:spPr>
          <a:xfrm>
            <a:off x="724746" y="2034550"/>
            <a:ext cx="57302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&lt;a </a:t>
            </a:r>
            <a:r>
              <a:rPr lang="en-US" sz="1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href</a:t>
            </a:r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=“…" target="_blank" &gt;External &lt;/a&gt;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5ABC9C-FAF8-4AD1-9CA3-EF8CBF4A096A}"/>
              </a:ext>
            </a:extLst>
          </p:cNvPr>
          <p:cNvSpPr/>
          <p:nvPr/>
        </p:nvSpPr>
        <p:spPr>
          <a:xfrm>
            <a:off x="477519" y="2474923"/>
            <a:ext cx="479890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Link to an internal section: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A33B87-3C2E-4B32-A57B-F8DE72015D5D}"/>
              </a:ext>
            </a:extLst>
          </p:cNvPr>
          <p:cNvSpPr/>
          <p:nvPr/>
        </p:nvSpPr>
        <p:spPr>
          <a:xfrm>
            <a:off x="724746" y="2865801"/>
            <a:ext cx="4155443" cy="9746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015AEE-7487-4534-B2D2-C4CBC0CCF22E}"/>
              </a:ext>
            </a:extLst>
          </p:cNvPr>
          <p:cNvSpPr/>
          <p:nvPr/>
        </p:nvSpPr>
        <p:spPr>
          <a:xfrm>
            <a:off x="799252" y="2865800"/>
            <a:ext cx="415544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&lt;a </a:t>
            </a:r>
            <a:r>
              <a:rPr lang="en-US" sz="1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href</a:t>
            </a:r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="#contact"&gt;Go to Contact&lt;/a&gt;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...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&lt;h2 id="contact"&gt;Contact Section&lt;/h2&gt;</a:t>
            </a:r>
          </a:p>
        </p:txBody>
      </p:sp>
    </p:spTree>
    <p:extLst>
      <p:ext uri="{BB962C8B-B14F-4D97-AF65-F5344CB8AC3E}">
        <p14:creationId xmlns:p14="http://schemas.microsoft.com/office/powerpoint/2010/main" val="35094530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B938A06-F054-4748-809C-823FF31CF6BE}"/>
              </a:ext>
            </a:extLst>
          </p:cNvPr>
          <p:cNvSpPr/>
          <p:nvPr/>
        </p:nvSpPr>
        <p:spPr>
          <a:xfrm>
            <a:off x="422123" y="575515"/>
            <a:ext cx="322021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Mail and Phone Links: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DAB8B4-5FFA-4AB2-9AB7-99CABEDD5B75}"/>
              </a:ext>
            </a:extLst>
          </p:cNvPr>
          <p:cNvSpPr/>
          <p:nvPr/>
        </p:nvSpPr>
        <p:spPr>
          <a:xfrm>
            <a:off x="680315" y="962343"/>
            <a:ext cx="5690798" cy="9792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AAE6E5-E7AD-4419-A24B-F00372C61B01}"/>
              </a:ext>
            </a:extLst>
          </p:cNvPr>
          <p:cNvSpPr/>
          <p:nvPr/>
        </p:nvSpPr>
        <p:spPr>
          <a:xfrm>
            <a:off x="951654" y="975625"/>
            <a:ext cx="511048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&lt;a </a:t>
            </a:r>
            <a:r>
              <a:rPr lang="en-US" sz="1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href</a:t>
            </a:r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="mailto:info@gmail.com"&gt;Email Me&lt;/a&gt;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&lt;a </a:t>
            </a:r>
            <a:r>
              <a:rPr lang="en-US" sz="1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href</a:t>
            </a:r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="</a:t>
            </a:r>
            <a:r>
              <a:rPr lang="en-US" sz="1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tel</a:t>
            </a:r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:+923001234567"&gt;Call Now&lt;/a&gt;</a:t>
            </a:r>
          </a:p>
          <a:p>
            <a:r>
              <a:rPr lang="pt-BR" dirty="0">
                <a:solidFill>
                  <a:schemeClr val="bg1"/>
                </a:solidFill>
              </a:rPr>
              <a:t>&lt;a href="https://wa.me/189452789436"&gt;CLick me &lt;/a&gt;</a:t>
            </a:r>
          </a:p>
        </p:txBody>
      </p:sp>
    </p:spTree>
    <p:extLst>
      <p:ext uri="{BB962C8B-B14F-4D97-AF65-F5344CB8AC3E}">
        <p14:creationId xmlns:p14="http://schemas.microsoft.com/office/powerpoint/2010/main" val="27324495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1F6EBE5-6D1B-4CD9-8BE0-63B121B680BF}"/>
              </a:ext>
            </a:extLst>
          </p:cNvPr>
          <p:cNvSpPr/>
          <p:nvPr/>
        </p:nvSpPr>
        <p:spPr>
          <a:xfrm>
            <a:off x="466376" y="582288"/>
            <a:ext cx="304984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Adding Images – &lt;</a:t>
            </a:r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img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FAB014-11BA-4D1F-82A5-FD99758B2DD3}"/>
              </a:ext>
            </a:extLst>
          </p:cNvPr>
          <p:cNvSpPr/>
          <p:nvPr/>
        </p:nvSpPr>
        <p:spPr>
          <a:xfrm>
            <a:off x="725711" y="992590"/>
            <a:ext cx="6501436" cy="400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186800-6E3F-4175-A734-7528296BAE0D}"/>
              </a:ext>
            </a:extLst>
          </p:cNvPr>
          <p:cNvSpPr/>
          <p:nvPr/>
        </p:nvSpPr>
        <p:spPr>
          <a:xfrm>
            <a:off x="725711" y="1007632"/>
            <a:ext cx="70588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sz="1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img</a:t>
            </a:r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src</a:t>
            </a:r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="photo.jpg" alt="My photo" width="300" height="200"&gt;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A0E674-BDAF-48F5-B913-B7F713F7CDE2}"/>
              </a:ext>
            </a:extLst>
          </p:cNvPr>
          <p:cNvSpPr/>
          <p:nvPr/>
        </p:nvSpPr>
        <p:spPr>
          <a:xfrm>
            <a:off x="466375" y="1771531"/>
            <a:ext cx="5900557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Attributes: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src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Path to the image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alt: Alternative text for accessibility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width, height: Control size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Best Practices: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Always include alt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Optimize image size for performance</a:t>
            </a:r>
          </a:p>
        </p:txBody>
      </p:sp>
    </p:spTree>
    <p:extLst>
      <p:ext uri="{BB962C8B-B14F-4D97-AF65-F5344CB8AC3E}">
        <p14:creationId xmlns:p14="http://schemas.microsoft.com/office/powerpoint/2010/main" val="13663772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130521A-158E-46E6-9604-3F17EC0E058C}"/>
              </a:ext>
            </a:extLst>
          </p:cNvPr>
          <p:cNvSpPr/>
          <p:nvPr/>
        </p:nvSpPr>
        <p:spPr>
          <a:xfrm>
            <a:off x="443653" y="603260"/>
            <a:ext cx="4572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Embedding Videos and Audio</a:t>
            </a: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Video: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2B4862-FCAC-4299-BBE7-BAAF2BE33D79}"/>
              </a:ext>
            </a:extLst>
          </p:cNvPr>
          <p:cNvSpPr/>
          <p:nvPr/>
        </p:nvSpPr>
        <p:spPr>
          <a:xfrm>
            <a:off x="817465" y="1342311"/>
            <a:ext cx="5596882" cy="496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B3DA4D-9A4B-49C6-A9D7-D5538895BF37}"/>
              </a:ext>
            </a:extLst>
          </p:cNvPr>
          <p:cNvSpPr/>
          <p:nvPr/>
        </p:nvSpPr>
        <p:spPr>
          <a:xfrm>
            <a:off x="817465" y="1394218"/>
            <a:ext cx="5447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&lt;video </a:t>
            </a:r>
            <a:r>
              <a:rPr lang="en-US" sz="1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src</a:t>
            </a:r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="video.mp4" controls width="400"&gt;&lt;/video&gt;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503D0C-FFAF-41EF-97DB-1BC50BC374E9}"/>
              </a:ext>
            </a:extLst>
          </p:cNvPr>
          <p:cNvSpPr/>
          <p:nvPr/>
        </p:nvSpPr>
        <p:spPr>
          <a:xfrm>
            <a:off x="817465" y="1925615"/>
            <a:ext cx="31390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controls,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autoplay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loop, muted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94229E-A3C1-4975-A836-CBDC5F971446}"/>
              </a:ext>
            </a:extLst>
          </p:cNvPr>
          <p:cNvSpPr/>
          <p:nvPr/>
        </p:nvSpPr>
        <p:spPr>
          <a:xfrm>
            <a:off x="471056" y="2432518"/>
            <a:ext cx="88678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Audio: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360F95-6FF3-44D8-B75A-E60756D6D653}"/>
              </a:ext>
            </a:extLst>
          </p:cNvPr>
          <p:cNvSpPr/>
          <p:nvPr/>
        </p:nvSpPr>
        <p:spPr>
          <a:xfrm>
            <a:off x="817465" y="2815679"/>
            <a:ext cx="5398347" cy="5031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541EC2-47D2-4BA4-9090-251F8A3C19B4}"/>
              </a:ext>
            </a:extLst>
          </p:cNvPr>
          <p:cNvSpPr/>
          <p:nvPr/>
        </p:nvSpPr>
        <p:spPr>
          <a:xfrm>
            <a:off x="860348" y="2878442"/>
            <a:ext cx="41553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&lt;audio </a:t>
            </a:r>
            <a:r>
              <a:rPr lang="en-US" sz="1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src</a:t>
            </a:r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="song.mp3" controls&gt;&lt;/audio&gt;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BCD001B-E30C-4ECE-A119-9EF36CC333FB}"/>
              </a:ext>
            </a:extLst>
          </p:cNvPr>
          <p:cNvSpPr/>
          <p:nvPr/>
        </p:nvSpPr>
        <p:spPr>
          <a:xfrm>
            <a:off x="817465" y="3357651"/>
            <a:ext cx="43460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Always use controls so users can pause/stop</a:t>
            </a:r>
          </a:p>
        </p:txBody>
      </p:sp>
    </p:spTree>
    <p:extLst>
      <p:ext uri="{BB962C8B-B14F-4D97-AF65-F5344CB8AC3E}">
        <p14:creationId xmlns:p14="http://schemas.microsoft.com/office/powerpoint/2010/main" val="19782314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B6D31D7-69D3-4D22-99F7-7BC989961720}"/>
              </a:ext>
            </a:extLst>
          </p:cNvPr>
          <p:cNvSpPr/>
          <p:nvPr/>
        </p:nvSpPr>
        <p:spPr>
          <a:xfrm>
            <a:off x="466843" y="575515"/>
            <a:ext cx="32912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Semantic HTML5 Layout Tags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72D6D09-B243-4A63-8884-ACC020A2F6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6009829"/>
              </p:ext>
            </p:extLst>
          </p:nvPr>
        </p:nvGraphicFramePr>
        <p:xfrm>
          <a:off x="1293542" y="975625"/>
          <a:ext cx="6556916" cy="2438400"/>
        </p:xfrm>
        <a:graphic>
          <a:graphicData uri="http://schemas.openxmlformats.org/drawingml/2006/table">
            <a:tbl>
              <a:tblPr/>
              <a:tblGrid>
                <a:gridCol w="3278458">
                  <a:extLst>
                    <a:ext uri="{9D8B030D-6E8A-4147-A177-3AD203B41FA5}">
                      <a16:colId xmlns:a16="http://schemas.microsoft.com/office/drawing/2014/main" val="517970145"/>
                    </a:ext>
                  </a:extLst>
                </a:gridCol>
                <a:gridCol w="3278458">
                  <a:extLst>
                    <a:ext uri="{9D8B030D-6E8A-4147-A177-3AD203B41FA5}">
                      <a16:colId xmlns:a16="http://schemas.microsoft.com/office/drawing/2014/main" val="21963260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Tag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71505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&lt;header&gt;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Page or section header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93227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&lt;footer&gt;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Page or section footer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64406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&lt;nav&gt;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Navigation links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2260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&lt;main&gt;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Main content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4869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&lt;section&gt;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Thematic grouping of content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58529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&lt;article&gt;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Independent content block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6855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&lt;aside&gt;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Sidebar or extra content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2349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39428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B54A37F-1B47-46D2-ADD2-4A10256B77C9}"/>
              </a:ext>
            </a:extLst>
          </p:cNvPr>
          <p:cNvSpPr/>
          <p:nvPr/>
        </p:nvSpPr>
        <p:spPr>
          <a:xfrm>
            <a:off x="475661" y="602608"/>
            <a:ext cx="116544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8945BA-E1AC-4630-8A1D-A80AD3ABEAAC}"/>
              </a:ext>
            </a:extLst>
          </p:cNvPr>
          <p:cNvSpPr/>
          <p:nvPr/>
        </p:nvSpPr>
        <p:spPr>
          <a:xfrm>
            <a:off x="704426" y="1015999"/>
            <a:ext cx="3914987" cy="3671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CF3ABF-DCC9-4EEF-931F-4DC0249395F6}"/>
              </a:ext>
            </a:extLst>
          </p:cNvPr>
          <p:cNvSpPr/>
          <p:nvPr/>
        </p:nvSpPr>
        <p:spPr>
          <a:xfrm>
            <a:off x="836505" y="1081858"/>
            <a:ext cx="5632027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&lt;header&gt;</a:t>
            </a:r>
          </a:p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&lt;h1&gt;My Portfolio&lt;/h1&gt;</a:t>
            </a:r>
          </a:p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&lt;nav&gt;</a:t>
            </a:r>
          </a:p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&lt;a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href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="#home"&gt;Home&lt;/a&gt;</a:t>
            </a:r>
          </a:p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&lt;a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href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="#contact"&gt;Contact&lt;/a&gt;</a:t>
            </a:r>
          </a:p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&lt;/nav&gt;</a:t>
            </a:r>
          </a:p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&lt;/header&gt;</a:t>
            </a:r>
          </a:p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&lt;main&gt;</a:t>
            </a:r>
          </a:p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&lt;section&gt;</a:t>
            </a:r>
          </a:p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&lt;h2&gt;About Me&lt;/h2&gt;</a:t>
            </a:r>
          </a:p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&lt;p&gt;I build websites.&lt;/p&gt;</a:t>
            </a:r>
          </a:p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&lt;/section&gt;</a:t>
            </a:r>
          </a:p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&lt;/main&gt;</a:t>
            </a:r>
          </a:p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&lt;footer&gt;</a:t>
            </a:r>
          </a:p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&amp;copy; 2025 Munim. All rights reserved.</a:t>
            </a:r>
          </a:p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&lt;/footer&gt;</a:t>
            </a:r>
          </a:p>
        </p:txBody>
      </p:sp>
    </p:spTree>
    <p:extLst>
      <p:ext uri="{BB962C8B-B14F-4D97-AF65-F5344CB8AC3E}">
        <p14:creationId xmlns:p14="http://schemas.microsoft.com/office/powerpoint/2010/main" val="38892924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75D3F6B-01C0-4450-A6DA-010EC981BC64}"/>
              </a:ext>
            </a:extLst>
          </p:cNvPr>
          <p:cNvSpPr/>
          <p:nvPr/>
        </p:nvSpPr>
        <p:spPr>
          <a:xfrm>
            <a:off x="472315" y="521329"/>
            <a:ext cx="33297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Hands-On Code 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0A797B-0BC3-492C-B004-A5E0EDEB152E}"/>
              </a:ext>
            </a:extLst>
          </p:cNvPr>
          <p:cNvSpPr/>
          <p:nvPr/>
        </p:nvSpPr>
        <p:spPr>
          <a:xfrm>
            <a:off x="587462" y="982994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Ask students to build: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personal landing page with: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div, span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ul and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ol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few links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embedded image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semantic layout with header, main, footer</a:t>
            </a:r>
          </a:p>
        </p:txBody>
      </p:sp>
    </p:spTree>
    <p:extLst>
      <p:ext uri="{BB962C8B-B14F-4D97-AF65-F5344CB8AC3E}">
        <p14:creationId xmlns:p14="http://schemas.microsoft.com/office/powerpoint/2010/main" val="38255259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E8B240-E5BF-4162-9987-A8AD559DFBC3}"/>
              </a:ext>
            </a:extLst>
          </p:cNvPr>
          <p:cNvSpPr/>
          <p:nvPr/>
        </p:nvSpPr>
        <p:spPr>
          <a:xfrm>
            <a:off x="430107" y="599744"/>
            <a:ext cx="4572000" cy="28315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Resources</a:t>
            </a:r>
          </a:p>
          <a:p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Videos: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HTML Semantic Tags – Kevin Powell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HTML Lists &amp; Links –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freeCodeCamp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Practice: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W3Schools Lists Practice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HTML5 Semantic Game (drag and drop)</a:t>
            </a:r>
          </a:p>
        </p:txBody>
      </p:sp>
    </p:spTree>
    <p:extLst>
      <p:ext uri="{BB962C8B-B14F-4D97-AF65-F5344CB8AC3E}">
        <p14:creationId xmlns:p14="http://schemas.microsoft.com/office/powerpoint/2010/main" val="12856032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5DEAD8-233A-4CB3-AF44-410D371B88CA}"/>
              </a:ext>
            </a:extLst>
          </p:cNvPr>
          <p:cNvSpPr/>
          <p:nvPr/>
        </p:nvSpPr>
        <p:spPr>
          <a:xfrm>
            <a:off x="3239346" y="2110085"/>
            <a:ext cx="266530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</a:t>
            </a:r>
            <a:r>
              <a:rPr lang="en-US" sz="5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2</a:t>
            </a:r>
            <a:endParaRPr lang="en-US" sz="5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11887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8EEE2C1-C0F7-486F-9634-63CC32C1F3BC}"/>
              </a:ext>
            </a:extLst>
          </p:cNvPr>
          <p:cNvSpPr/>
          <p:nvPr/>
        </p:nvSpPr>
        <p:spPr>
          <a:xfrm>
            <a:off x="443653" y="684540"/>
            <a:ext cx="81855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Forms, Tables, Metadata, Advanced Elements &amp; Final Practice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F0D842-B37F-4504-B4AF-CE8606A05767}"/>
              </a:ext>
            </a:extLst>
          </p:cNvPr>
          <p:cNvSpPr/>
          <p:nvPr/>
        </p:nvSpPr>
        <p:spPr>
          <a:xfrm>
            <a:off x="443653" y="1270304"/>
            <a:ext cx="665479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Learning Objectives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By the end of this class, students will: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 forms to capture user input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tables to organize structured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 &lt;meta&gt; tags and their importance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Learn advanced and lesser-known HTML5 elements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Combine everything into real-world HTML mini-projects</a:t>
            </a:r>
          </a:p>
        </p:txBody>
      </p:sp>
    </p:spTree>
    <p:extLst>
      <p:ext uri="{BB962C8B-B14F-4D97-AF65-F5344CB8AC3E}">
        <p14:creationId xmlns:p14="http://schemas.microsoft.com/office/powerpoint/2010/main" val="42429040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EAFB087-E74C-49DA-8EF9-DF22E25A952E}"/>
              </a:ext>
            </a:extLst>
          </p:cNvPr>
          <p:cNvSpPr/>
          <p:nvPr/>
        </p:nvSpPr>
        <p:spPr>
          <a:xfrm>
            <a:off x="443653" y="584895"/>
            <a:ext cx="7325360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HTML Forms – Capture User Input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Forms collect user data (e.g., contact info, logins, feedback)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Essential Tags: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47E58A-A975-4448-A297-DD9AC6BB7A31}"/>
              </a:ext>
            </a:extLst>
          </p:cNvPr>
          <p:cNvSpPr/>
          <p:nvPr/>
        </p:nvSpPr>
        <p:spPr>
          <a:xfrm>
            <a:off x="843280" y="1816001"/>
            <a:ext cx="5245947" cy="15038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57A389-70C7-4776-94EE-4E884AE2980C}"/>
              </a:ext>
            </a:extLst>
          </p:cNvPr>
          <p:cNvSpPr/>
          <p:nvPr/>
        </p:nvSpPr>
        <p:spPr>
          <a:xfrm>
            <a:off x="843280" y="1829253"/>
            <a:ext cx="515870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&lt;form &gt;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&lt;label for="name"&gt;Name:&lt;/label&gt;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&lt;input type="text" id="name" name="username"&gt;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&lt;button type="submit"&gt;Submit&lt;/button&gt;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&lt;/form&gt;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12AE61-44BF-423D-99A5-5E118A596B00}"/>
              </a:ext>
            </a:extLst>
          </p:cNvPr>
          <p:cNvSpPr/>
          <p:nvPr/>
        </p:nvSpPr>
        <p:spPr>
          <a:xfrm>
            <a:off x="443653" y="3327500"/>
            <a:ext cx="51587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&lt;form&gt;: Main form wrapper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action: URL to send data to (in real apps, </a:t>
            </a:r>
            <a:r>
              <a:rPr lang="en-US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backend)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42292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AB1B1DE-E117-4915-8986-DD229E949CDD}"/>
              </a:ext>
            </a:extLst>
          </p:cNvPr>
          <p:cNvSpPr/>
          <p:nvPr/>
        </p:nvSpPr>
        <p:spPr>
          <a:xfrm>
            <a:off x="409910" y="575516"/>
            <a:ext cx="32191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/>
              <a:t>Common Form Elements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3866BAD-6C49-4B63-B345-68BEDF0E69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8093586"/>
              </p:ext>
            </p:extLst>
          </p:nvPr>
        </p:nvGraphicFramePr>
        <p:xfrm>
          <a:off x="1310428" y="1047750"/>
          <a:ext cx="5457402" cy="3048000"/>
        </p:xfrm>
        <a:graphic>
          <a:graphicData uri="http://schemas.openxmlformats.org/drawingml/2006/table">
            <a:tbl>
              <a:tblPr/>
              <a:tblGrid>
                <a:gridCol w="2195830">
                  <a:extLst>
                    <a:ext uri="{9D8B030D-6E8A-4147-A177-3AD203B41FA5}">
                      <a16:colId xmlns:a16="http://schemas.microsoft.com/office/drawing/2014/main" val="3250974886"/>
                    </a:ext>
                  </a:extLst>
                </a:gridCol>
                <a:gridCol w="3261572">
                  <a:extLst>
                    <a:ext uri="{9D8B030D-6E8A-4147-A177-3AD203B41FA5}">
                      <a16:colId xmlns:a16="http://schemas.microsoft.com/office/drawing/2014/main" val="8680744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Tag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5012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&lt;input type="text"&gt;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Single-line 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0767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&lt;input type="email"&gt;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Email address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45573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&lt;input type="password"&gt;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Password field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46414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&lt;input type="checkbox"&gt;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Multiple selection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97627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&lt;input type="radio"&gt;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Single selection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8470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&lt;input type="file"&gt;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Upload file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81956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&lt;textarea&gt;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Multiline input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5990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&lt;select&gt; + &lt;option&gt;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Dropdown menu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55823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&lt;button&gt;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Clickable button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7986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20169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4CF5B7F-5533-4768-BA98-22D1D55CAC6B}"/>
              </a:ext>
            </a:extLst>
          </p:cNvPr>
          <p:cNvSpPr/>
          <p:nvPr/>
        </p:nvSpPr>
        <p:spPr>
          <a:xfrm>
            <a:off x="880533" y="758613"/>
            <a:ext cx="4165600" cy="15632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4599B6-7BE8-4F8F-976C-D4F1468CEC7A}"/>
              </a:ext>
            </a:extLst>
          </p:cNvPr>
          <p:cNvSpPr/>
          <p:nvPr/>
        </p:nvSpPr>
        <p:spPr>
          <a:xfrm>
            <a:off x="880533" y="844517"/>
            <a:ext cx="409448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&lt;label for="country"&gt;Country:&lt;/label&gt;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&lt;select id="country"&gt;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&lt;option value="pk"&gt;Pakistan&lt;/option&gt;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&lt;option value="us"&gt;USA&lt;/option&gt;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&lt;/select&gt;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174DA1-BB2D-47DE-AE71-52BD65C7F95F}"/>
              </a:ext>
            </a:extLst>
          </p:cNvPr>
          <p:cNvSpPr/>
          <p:nvPr/>
        </p:nvSpPr>
        <p:spPr>
          <a:xfrm>
            <a:off x="927946" y="2387084"/>
            <a:ext cx="46257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Always use label with for accessibility.</a:t>
            </a:r>
          </a:p>
        </p:txBody>
      </p:sp>
    </p:spTree>
    <p:extLst>
      <p:ext uri="{BB962C8B-B14F-4D97-AF65-F5344CB8AC3E}">
        <p14:creationId xmlns:p14="http://schemas.microsoft.com/office/powerpoint/2010/main" val="21120141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6413F0D-C3D6-4B9A-839A-8A0E75D8483E}"/>
              </a:ext>
            </a:extLst>
          </p:cNvPr>
          <p:cNvSpPr/>
          <p:nvPr/>
        </p:nvSpPr>
        <p:spPr>
          <a:xfrm>
            <a:off x="441279" y="589062"/>
            <a:ext cx="464261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HTML Tables – Displaying Structured Data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4B10BE-9B4F-43F5-AB02-82DA7909FBEB}"/>
              </a:ext>
            </a:extLst>
          </p:cNvPr>
          <p:cNvSpPr/>
          <p:nvPr/>
        </p:nvSpPr>
        <p:spPr>
          <a:xfrm>
            <a:off x="597066" y="887131"/>
            <a:ext cx="289120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&lt;table&gt; – Table wrapper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&lt;tr&gt; – Table row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&lt;td&gt; – Table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 – Table header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thead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&gt;, &lt;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tbody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&gt;, &lt;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tfoot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7F78B5-80FD-4270-9CBF-5A55547EDAEB}"/>
              </a:ext>
            </a:extLst>
          </p:cNvPr>
          <p:cNvSpPr/>
          <p:nvPr/>
        </p:nvSpPr>
        <p:spPr>
          <a:xfrm>
            <a:off x="441279" y="2263973"/>
            <a:ext cx="17652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Basic Example: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1BCB40-067F-492B-BD77-D0D5563B21EE}"/>
              </a:ext>
            </a:extLst>
          </p:cNvPr>
          <p:cNvSpPr/>
          <p:nvPr/>
        </p:nvSpPr>
        <p:spPr>
          <a:xfrm>
            <a:off x="751761" y="2675451"/>
            <a:ext cx="5232400" cy="20621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D9421B-4692-4708-BEB3-F5259F8014F8}"/>
              </a:ext>
            </a:extLst>
          </p:cNvPr>
          <p:cNvSpPr/>
          <p:nvPr/>
        </p:nvSpPr>
        <p:spPr>
          <a:xfrm>
            <a:off x="822960" y="2686819"/>
            <a:ext cx="52324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&lt;table border="1"&gt;</a:t>
            </a:r>
          </a:p>
          <a:p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&lt;</a:t>
            </a:r>
            <a:r>
              <a:rPr lang="en-US" sz="16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thead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  <a:p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&lt;tr&gt;&lt;</a:t>
            </a:r>
            <a:r>
              <a:rPr lang="en-US" sz="16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&gt;Name&lt;/</a:t>
            </a:r>
            <a:r>
              <a:rPr lang="en-US" sz="16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&gt;&lt;</a:t>
            </a:r>
            <a:r>
              <a:rPr lang="en-US" sz="16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&gt;Email&lt;/</a:t>
            </a:r>
            <a:r>
              <a:rPr lang="en-US" sz="16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&gt;&lt;/tr&gt;</a:t>
            </a:r>
          </a:p>
          <a:p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&lt;/</a:t>
            </a:r>
            <a:r>
              <a:rPr lang="en-US" sz="16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thead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  <a:p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&lt;</a:t>
            </a:r>
            <a:r>
              <a:rPr lang="en-US" sz="16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tbody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  <a:p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&lt;tr&gt;&lt;td&gt;Ali&lt;/td&gt;&lt;td&gt;ali@example.com&lt;/td&gt;&lt;/tr&gt;</a:t>
            </a:r>
          </a:p>
          <a:p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&lt;/</a:t>
            </a:r>
            <a:r>
              <a:rPr lang="en-US" sz="16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tbody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  <a:p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&lt;/table&gt;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EEF49D-5280-4AB7-9BAE-A46C1269B3D0}"/>
              </a:ext>
            </a:extLst>
          </p:cNvPr>
          <p:cNvSpPr/>
          <p:nvPr/>
        </p:nvSpPr>
        <p:spPr>
          <a:xfrm>
            <a:off x="6387253" y="3114529"/>
            <a:ext cx="236389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colspan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rowspan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merge cells.</a:t>
            </a:r>
          </a:p>
        </p:txBody>
      </p:sp>
    </p:spTree>
    <p:extLst>
      <p:ext uri="{BB962C8B-B14F-4D97-AF65-F5344CB8AC3E}">
        <p14:creationId xmlns:p14="http://schemas.microsoft.com/office/powerpoint/2010/main" val="13218857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html elements in tree-like structure">
            <a:extLst>
              <a:ext uri="{FF2B5EF4-FFF2-40B4-BE49-F238E27FC236}">
                <a16:creationId xmlns:a16="http://schemas.microsoft.com/office/drawing/2014/main" id="{AD8D4AC7-E586-4D20-8BB7-05D01262E3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2802" y="598117"/>
            <a:ext cx="5558395" cy="3947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25729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4216B44-92BF-4AF3-B3C5-8745A1F8F477}"/>
              </a:ext>
            </a:extLst>
          </p:cNvPr>
          <p:cNvSpPr/>
          <p:nvPr/>
        </p:nvSpPr>
        <p:spPr>
          <a:xfrm>
            <a:off x="475133" y="568742"/>
            <a:ext cx="428835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Meta Tags &amp; Page Info (Inside &lt;head&gt;)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84A065-0F20-4955-9968-6C337B6374FA}"/>
              </a:ext>
            </a:extLst>
          </p:cNvPr>
          <p:cNvSpPr/>
          <p:nvPr/>
        </p:nvSpPr>
        <p:spPr>
          <a:xfrm>
            <a:off x="731519" y="968851"/>
            <a:ext cx="6305974" cy="13234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734BAF-9DD5-4E8C-930B-00718D5E66FE}"/>
              </a:ext>
            </a:extLst>
          </p:cNvPr>
          <p:cNvSpPr/>
          <p:nvPr/>
        </p:nvSpPr>
        <p:spPr>
          <a:xfrm>
            <a:off x="731519" y="968850"/>
            <a:ext cx="642336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&lt;meta charset="UTF-8"&gt;</a:t>
            </a:r>
          </a:p>
          <a:p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&lt;meta name="viewport" content="width=device-width, initial-scale=1.0"&gt;</a:t>
            </a:r>
          </a:p>
          <a:p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&lt;meta name="description" content="Learn HTML in 3 days"&gt;</a:t>
            </a:r>
          </a:p>
          <a:p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&lt;meta name="keywords" content="HTML, Web Development, Beginner"&gt;</a:t>
            </a:r>
          </a:p>
          <a:p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&lt;meta name="author" content="Munim"&gt;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FBA7FA-45C9-40DB-B6F2-C4AC2E8CD4BB}"/>
              </a:ext>
            </a:extLst>
          </p:cNvPr>
          <p:cNvSpPr/>
          <p:nvPr/>
        </p:nvSpPr>
        <p:spPr>
          <a:xfrm>
            <a:off x="475133" y="2358856"/>
            <a:ext cx="4572000" cy="113877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Meta Tags Matter: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 browsers render correctly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 SEO (Search Engine Optimization)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 how your page looks on mobile</a:t>
            </a:r>
          </a:p>
        </p:txBody>
      </p:sp>
    </p:spTree>
    <p:extLst>
      <p:ext uri="{BB962C8B-B14F-4D97-AF65-F5344CB8AC3E}">
        <p14:creationId xmlns:p14="http://schemas.microsoft.com/office/powerpoint/2010/main" val="395404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49561A-9C4C-491D-8399-F4B9FF012747}"/>
              </a:ext>
            </a:extLst>
          </p:cNvPr>
          <p:cNvSpPr/>
          <p:nvPr/>
        </p:nvSpPr>
        <p:spPr>
          <a:xfrm>
            <a:off x="447751" y="595835"/>
            <a:ext cx="34067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/>
              <a:t>Advanced HTML Elements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AE94CA5-51BC-450A-A759-BBB86DC8F9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8705648"/>
              </p:ext>
            </p:extLst>
          </p:nvPr>
        </p:nvGraphicFramePr>
        <p:xfrm>
          <a:off x="1141095" y="995945"/>
          <a:ext cx="6861810" cy="2438400"/>
        </p:xfrm>
        <a:graphic>
          <a:graphicData uri="http://schemas.openxmlformats.org/drawingml/2006/table">
            <a:tbl>
              <a:tblPr/>
              <a:tblGrid>
                <a:gridCol w="3430905">
                  <a:extLst>
                    <a:ext uri="{9D8B030D-6E8A-4147-A177-3AD203B41FA5}">
                      <a16:colId xmlns:a16="http://schemas.microsoft.com/office/drawing/2014/main" val="3112366507"/>
                    </a:ext>
                  </a:extLst>
                </a:gridCol>
                <a:gridCol w="3430905">
                  <a:extLst>
                    <a:ext uri="{9D8B030D-6E8A-4147-A177-3AD203B41FA5}">
                      <a16:colId xmlns:a16="http://schemas.microsoft.com/office/drawing/2014/main" val="4538382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Tag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7884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&lt;iframe&gt;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Embed web pages or YouTube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11920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&lt;details&gt; &amp; &lt;summary&gt;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Expandable content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789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&lt;progress&gt;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Show task progress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50668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&lt;meter&gt;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Gauge or measurement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75799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&lt;time&gt;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Represent date/time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7545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&lt;code&gt;, &lt;kbd&gt;, &lt;pre&gt;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Show code or keyboard inputs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78258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&lt;abbr&gt;, &lt;cite&gt;, &lt;mark&gt;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Semantic enhancements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30010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35384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96EB567-2ADF-4F8D-8787-FCA062D56CB7}"/>
              </a:ext>
            </a:extLst>
          </p:cNvPr>
          <p:cNvSpPr/>
          <p:nvPr/>
        </p:nvSpPr>
        <p:spPr>
          <a:xfrm>
            <a:off x="437549" y="616155"/>
            <a:ext cx="14830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Examples: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36B164-B400-4C4C-A14E-79E47E61BDCD}"/>
              </a:ext>
            </a:extLst>
          </p:cNvPr>
          <p:cNvSpPr/>
          <p:nvPr/>
        </p:nvSpPr>
        <p:spPr>
          <a:xfrm>
            <a:off x="806026" y="1077820"/>
            <a:ext cx="5073228" cy="18956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E9AD0D-F085-452D-B68C-81B8421FF528}"/>
              </a:ext>
            </a:extLst>
          </p:cNvPr>
          <p:cNvSpPr/>
          <p:nvPr/>
        </p:nvSpPr>
        <p:spPr>
          <a:xfrm>
            <a:off x="860212" y="1077820"/>
            <a:ext cx="501904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&lt;details&gt;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&lt;summary&gt;Click to read more&lt;/summary&gt;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This is hidden content.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&lt;/details&gt;</a:t>
            </a:r>
          </a:p>
          <a:p>
            <a:endParaRPr lang="en-US" sz="1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&lt;progress value="70" max="100"&gt;70%&lt;/progress&gt;</a:t>
            </a:r>
          </a:p>
        </p:txBody>
      </p:sp>
    </p:spTree>
    <p:extLst>
      <p:ext uri="{BB962C8B-B14F-4D97-AF65-F5344CB8AC3E}">
        <p14:creationId xmlns:p14="http://schemas.microsoft.com/office/powerpoint/2010/main" val="25345296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F47A76-4B5F-456D-BA27-7DDA7EBD9FC2}"/>
              </a:ext>
            </a:extLst>
          </p:cNvPr>
          <p:cNvSpPr/>
          <p:nvPr/>
        </p:nvSpPr>
        <p:spPr>
          <a:xfrm>
            <a:off x="475705" y="575515"/>
            <a:ext cx="432869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Accessibility and Best Practices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EC6279-713F-4ABE-8578-64B9D6DCAFE3}"/>
              </a:ext>
            </a:extLst>
          </p:cNvPr>
          <p:cNvSpPr/>
          <p:nvPr/>
        </p:nvSpPr>
        <p:spPr>
          <a:xfrm>
            <a:off x="475705" y="883292"/>
            <a:ext cx="641954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alt for images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Link &lt;label&gt; to &lt;input&gt; with for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semantic tags over div when possible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Write clean indentation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Comment your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Don’t abuse &lt;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/&gt; and &lt;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hr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/&gt; for layout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990E8C-1535-4BD9-AC67-3151E554E3CC}"/>
              </a:ext>
            </a:extLst>
          </p:cNvPr>
          <p:cNvSpPr/>
          <p:nvPr/>
        </p:nvSpPr>
        <p:spPr>
          <a:xfrm>
            <a:off x="475705" y="2637618"/>
            <a:ext cx="269688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Hands-On Practice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56E933-8DBC-4CAB-9DFC-98214B28FA22}"/>
              </a:ext>
            </a:extLst>
          </p:cNvPr>
          <p:cNvSpPr/>
          <p:nvPr/>
        </p:nvSpPr>
        <p:spPr>
          <a:xfrm>
            <a:off x="475705" y="2945395"/>
            <a:ext cx="641954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Ask students 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 a form with all input 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 a table with header, body, and 3+ rows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meta tags to their page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Try out &lt;details&gt;, &lt;progress&gt;, &lt;iframe&gt;</a:t>
            </a:r>
          </a:p>
        </p:txBody>
      </p:sp>
    </p:spTree>
    <p:extLst>
      <p:ext uri="{BB962C8B-B14F-4D97-AF65-F5344CB8AC3E}">
        <p14:creationId xmlns:p14="http://schemas.microsoft.com/office/powerpoint/2010/main" val="34053823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D95560-0338-48C1-A73A-AB3EED9183DA}"/>
              </a:ext>
            </a:extLst>
          </p:cNvPr>
          <p:cNvSpPr/>
          <p:nvPr/>
        </p:nvSpPr>
        <p:spPr>
          <a:xfrm>
            <a:off x="463973" y="540740"/>
            <a:ext cx="4572000" cy="372409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Resources for Class 3</a:t>
            </a:r>
          </a:p>
          <a:p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Videos: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HTML Forms –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FreeCodeCamp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HTML Tables – Web Dev Simplified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Practice Platforms: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HTML5 Doctor (Semantic Elements)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MDN Form Guide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Placeholder.com for image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Open Props &amp; Emojis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fun visuals</a:t>
            </a:r>
          </a:p>
        </p:txBody>
      </p:sp>
    </p:spTree>
    <p:extLst>
      <p:ext uri="{BB962C8B-B14F-4D97-AF65-F5344CB8AC3E}">
        <p14:creationId xmlns:p14="http://schemas.microsoft.com/office/powerpoint/2010/main" val="33455097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2EC73A5-44C7-46E8-AB3B-57119B14DE17}"/>
              </a:ext>
            </a:extLst>
          </p:cNvPr>
          <p:cNvSpPr/>
          <p:nvPr/>
        </p:nvSpPr>
        <p:spPr>
          <a:xfrm>
            <a:off x="1794637" y="1786920"/>
            <a:ext cx="5554726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20616523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1876</TotalTime>
  <Words>2080</Words>
  <Application>Microsoft Office PowerPoint</Application>
  <PresentationFormat>On-screen Show (16:9)</PresentationFormat>
  <Paragraphs>332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HP</cp:lastModifiedBy>
  <cp:revision>140</cp:revision>
  <dcterms:modified xsi:type="dcterms:W3CDTF">2026-01-04T16:48:19Z</dcterms:modified>
</cp:coreProperties>
</file>